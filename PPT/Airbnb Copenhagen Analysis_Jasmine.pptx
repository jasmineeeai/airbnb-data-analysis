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9" r:id="rId3"/>
    <p:sldId id="271" r:id="rId4"/>
    <p:sldId id="272" r:id="rId5"/>
    <p:sldId id="273" r:id="rId6"/>
    <p:sldId id="274" r:id="rId7"/>
    <p:sldId id="275" r:id="rId8"/>
  </p:sldIdLst>
  <p:sldSz cx="12192000" cy="6858000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26"/>
  </p:normalViewPr>
  <p:slideViewPr>
    <p:cSldViewPr snapToGrid="0">
      <p:cViewPr varScale="1">
        <p:scale>
          <a:sx n="76" d="100"/>
          <a:sy n="76" d="100"/>
        </p:scale>
        <p:origin x="200" y="8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77656ee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e77656ee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09625" y="2287041"/>
            <a:ext cx="11351418" cy="122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Copenhagen Airbnb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Market Deep-Dive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" y="2287041"/>
            <a:ext cx="57150" cy="1226641"/>
          </a:xfrm>
          <a:prstGeom prst="rect">
            <a:avLst/>
          </a:prstGeom>
          <a:solidFill>
            <a:srgbClr val="0EB3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66775" y="3656558"/>
            <a:ext cx="10753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naly</a:t>
            </a: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sis of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key price drivers &amp; Superhost performance metrics across Copenhagen's primary districts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4" y="0"/>
            <a:ext cx="12192000" cy="6858000"/>
          </a:xfrm>
          <a:prstGeom prst="rect">
            <a:avLst/>
          </a:prstGeom>
        </p:spPr>
      </p:pic>
      <p:sp>
        <p:nvSpPr>
          <p:cNvPr id="235" name="Section label"/>
          <p:cNvSpPr/>
          <p:nvPr/>
        </p:nvSpPr>
        <p:spPr>
          <a:xfrm>
            <a:off x="4162206" y="935287"/>
            <a:ext cx="4056377" cy="583547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CEE6DB"/>
            </a:solidFill>
          </a:ln>
        </p:spPr>
        <p:txBody>
          <a:bodyPr wrap="square" lIns="91440" tIns="60960" rIns="91440" bIns="60960"/>
          <a:lstStyle/>
          <a:p>
            <a:pPr algn="ctr"/>
            <a:r>
              <a:rPr lang="en-US" sz="2400" b="1" dirty="0">
                <a:solidFill>
                  <a:srgbClr val="2E7D57"/>
                </a:solidFill>
                <a:latin typeface="Aptos"/>
                <a:ea typeface="Aptos"/>
                <a:cs typeface="Aptos"/>
              </a:rPr>
              <a:t>FEEDBACK ANALYSIS</a:t>
            </a:r>
          </a:p>
        </p:txBody>
      </p:sp>
      <p:sp>
        <p:nvSpPr>
          <p:cNvPr id="236" name="Main title"/>
          <p:cNvSpPr/>
          <p:nvPr/>
        </p:nvSpPr>
        <p:spPr>
          <a:xfrm>
            <a:off x="1993578" y="1953917"/>
            <a:ext cx="8380000" cy="9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3900" b="1" dirty="0">
                <a:solidFill>
                  <a:srgbClr val="0A1C2A"/>
                </a:solidFill>
                <a:latin typeface="Aptos"/>
                <a:ea typeface="Aptos"/>
                <a:cs typeface="Aptos"/>
              </a:rPr>
              <a:t>What drives Airbnb guest feedback?</a:t>
            </a:r>
          </a:p>
        </p:txBody>
      </p:sp>
      <p:sp>
        <p:nvSpPr>
          <p:cNvPr id="237" name="Subtitle"/>
          <p:cNvSpPr/>
          <p:nvPr/>
        </p:nvSpPr>
        <p:spPr>
          <a:xfrm>
            <a:off x="2196000" y="3339000"/>
            <a:ext cx="780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zh-CN" altLang="en-US" sz="1650" dirty="0">
                <a:solidFill>
                  <a:srgbClr val="4A5568"/>
                </a:solidFill>
                <a:latin typeface="Aptos"/>
                <a:ea typeface="Aptos"/>
                <a:cs typeface="Aptos"/>
              </a:rPr>
              <a:t>（</a:t>
            </a:r>
            <a:r>
              <a:rPr lang="en-US" sz="1650" dirty="0">
                <a:solidFill>
                  <a:srgbClr val="4A5568"/>
                </a:solidFill>
                <a:latin typeface="Aptos"/>
                <a:ea typeface="Aptos"/>
                <a:cs typeface="Aptos"/>
              </a:rPr>
              <a:t>A 4-part view of ratings, neighborhoods, price bands, and host quality.</a:t>
            </a:r>
          </a:p>
          <a:p>
            <a:pPr algn="ctr"/>
            <a:endParaRPr lang="en-US" sz="1650" dirty="0">
              <a:solidFill>
                <a:srgbClr val="4A5568"/>
              </a:solidFill>
              <a:latin typeface="Aptos"/>
              <a:ea typeface="Aptos"/>
              <a:cs typeface="Aptos"/>
            </a:endParaRPr>
          </a:p>
          <a:p>
            <a:pPr algn="ctr"/>
            <a:r>
              <a:rPr lang="en-US" sz="1650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Guest feedback is not only a price or location story.</a:t>
            </a:r>
            <a:r>
              <a:rPr lang="zh-CN" altLang="en-US" sz="1650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 ）</a:t>
            </a:r>
            <a:endParaRPr lang="en-US" sz="1650" dirty="0">
              <a:solidFill>
                <a:srgbClr val="4A55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256032"/>
            <a:ext cx="9456328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 dirty="0">
                <a:solidFill>
                  <a:srgbClr val="172B4D"/>
                </a:solidFill>
              </a:rPr>
              <a:t>Feedback snapshot: key metrics and definitions</a:t>
            </a:r>
            <a:r>
              <a:rPr lang="zh-CN" altLang="en-US" sz="2800" b="1" dirty="0">
                <a:solidFill>
                  <a:srgbClr val="172B4D"/>
                </a:solidFill>
              </a:rPr>
              <a:t> </a:t>
            </a:r>
            <a:r>
              <a:rPr lang="en-US" altLang="zh-CN" sz="2800" b="1" dirty="0">
                <a:solidFill>
                  <a:srgbClr val="172B4D"/>
                </a:solidFill>
              </a:rPr>
              <a:t>🧐</a:t>
            </a:r>
            <a:endParaRPr lang="en-US" sz="2800" b="1" dirty="0">
              <a:solidFill>
                <a:srgbClr val="172B4D"/>
              </a:solidFill>
            </a:endParaRPr>
          </a:p>
        </p:txBody>
      </p:sp>
      <p:pic>
        <p:nvPicPr>
          <p:cNvPr id="4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996696"/>
            <a:ext cx="10811403" cy="5074920"/>
          </a:xfrm>
          <a:prstGeom prst="rect">
            <a:avLst/>
          </a:prstGeom>
        </p:spPr>
      </p:pic>
      <p:sp>
        <p:nvSpPr>
          <p:cNvPr id="5" name="Conclusion"/>
          <p:cNvSpPr/>
          <p:nvPr/>
        </p:nvSpPr>
        <p:spPr>
          <a:xfrm>
            <a:off x="4892040" y="1045941"/>
            <a:ext cx="6422282" cy="122661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b="1" dirty="0">
                <a:solidFill>
                  <a:srgbClr val="172B4D"/>
                </a:solidFill>
              </a:rPr>
              <a:t>Key metrics</a:t>
            </a:r>
          </a:p>
          <a:p>
            <a:pPr algn="l"/>
            <a:r>
              <a:rPr lang="en-US" dirty="0">
                <a:solidFill>
                  <a:srgbClr val="172B4D"/>
                </a:solidFill>
              </a:rPr>
              <a:t>Average rating: overall guest satisfaction score from 1 to 5.</a:t>
            </a:r>
          </a:p>
          <a:p>
            <a:pPr algn="l"/>
            <a:r>
              <a:rPr lang="en-US" dirty="0">
                <a:solidFill>
                  <a:srgbClr val="172B4D"/>
                </a:solidFill>
              </a:rPr>
              <a:t>Reviews/month: average monthly review frequency per listing.</a:t>
            </a:r>
          </a:p>
          <a:p>
            <a:pPr algn="l"/>
            <a:r>
              <a:rPr lang="en-US" dirty="0">
                <a:solidFill>
                  <a:srgbClr val="172B4D"/>
                </a:solidFill>
              </a:rPr>
              <a:t>Median price: middle nightly price in DKK; less distorted by extreme prices.</a:t>
            </a:r>
          </a:p>
        </p:txBody>
      </p:sp>
      <p:sp>
        <p:nvSpPr>
          <p:cNvPr id="6" name="Footer"/>
          <p:cNvSpPr/>
          <p:nvPr/>
        </p:nvSpPr>
        <p:spPr>
          <a:xfrm>
            <a:off x="502920" y="6373368"/>
            <a:ext cx="1106424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dirty="0">
                <a:solidFill>
                  <a:srgbClr val="6B7280"/>
                </a:solidFill>
              </a:rPr>
              <a:t>Benchmark lines show overall averages for comparison. Source: data/</a:t>
            </a:r>
            <a:r>
              <a:rPr lang="en-US" sz="1200" dirty="0" err="1">
                <a:solidFill>
                  <a:srgbClr val="6B7280"/>
                </a:solidFill>
              </a:rPr>
              <a:t>raw_data</a:t>
            </a:r>
            <a:r>
              <a:rPr lang="en-US" sz="1200" dirty="0">
                <a:solidFill>
                  <a:srgbClr val="6B7280"/>
                </a:solidFill>
              </a:rPr>
              <a:t>/</a:t>
            </a:r>
            <a:r>
              <a:rPr lang="en-US" sz="1200" dirty="0" err="1">
                <a:solidFill>
                  <a:srgbClr val="6B7280"/>
                </a:solidFill>
              </a:rPr>
              <a:t>listings.csv</a:t>
            </a:r>
            <a:r>
              <a:rPr lang="en-US" sz="1200" dirty="0">
                <a:solidFill>
                  <a:srgbClr val="6B728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256032"/>
            <a:ext cx="9299448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Which factor drives guest ratings?</a:t>
            </a:r>
            <a:r>
              <a:rPr lang="zh-CN" altLang="en-US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🤔</a:t>
            </a:r>
            <a:endParaRPr lang="en-US" sz="2800" b="1" dirty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" name="Ch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7726679" cy="5074920"/>
          </a:xfrm>
          <a:prstGeom prst="rect">
            <a:avLst/>
          </a:prstGeom>
        </p:spPr>
      </p:pic>
      <p:sp>
        <p:nvSpPr>
          <p:cNvPr id="5" name="Right insight panel"/>
          <p:cNvSpPr/>
          <p:nvPr/>
        </p:nvSpPr>
        <p:spPr>
          <a:xfrm>
            <a:off x="8500532" y="987551"/>
            <a:ext cx="3048339" cy="5480981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2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Question pill"/>
          <p:cNvSpPr/>
          <p:nvPr/>
        </p:nvSpPr>
        <p:spPr>
          <a:xfrm>
            <a:off x="8728000" y="1225000"/>
            <a:ext cx="1210000" cy="33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DE1FF"/>
            </a:solidFill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Question"/>
          <p:cNvSpPr/>
          <p:nvPr/>
        </p:nvSpPr>
        <p:spPr>
          <a:xfrm>
            <a:off x="8728000" y="1600000"/>
            <a:ext cx="2550000" cy="8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5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Is location the main story behind guest ratings?</a:t>
            </a:r>
          </a:p>
        </p:txBody>
      </p:sp>
      <p:sp>
        <p:nvSpPr>
          <p:cNvPr id="8" name="Answer"/>
          <p:cNvSpPr/>
          <p:nvPr/>
        </p:nvSpPr>
        <p:spPr>
          <a:xfrm>
            <a:off x="8728000" y="2460000"/>
            <a:ext cx="2550000" cy="6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30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9" name="Divider"/>
          <p:cNvSpPr/>
          <p:nvPr/>
        </p:nvSpPr>
        <p:spPr>
          <a:xfrm>
            <a:off x="8728000" y="3225000"/>
            <a:ext cx="2550000" cy="2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ead"/>
          <p:cNvSpPr/>
          <p:nvPr/>
        </p:nvSpPr>
        <p:spPr>
          <a:xfrm>
            <a:off x="8728000" y="3335000"/>
            <a:ext cx="2550000" cy="47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  <a:ea typeface="Aptos"/>
                <a:cs typeface="Aptos"/>
              </a:rPr>
              <a:t>Guest ratings are more tied to the stay experience than map position.</a:t>
            </a:r>
          </a:p>
        </p:txBody>
      </p:sp>
      <p:sp>
        <p:nvSpPr>
          <p:cNvPr id="13" name="Insight row 1"/>
          <p:cNvSpPr/>
          <p:nvPr/>
        </p:nvSpPr>
        <p:spPr>
          <a:xfrm>
            <a:off x="8657000" y="389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Insight number 1"/>
          <p:cNvSpPr/>
          <p:nvPr/>
        </p:nvSpPr>
        <p:spPr>
          <a:xfrm>
            <a:off x="8785000" y="4002000"/>
            <a:ext cx="370000" cy="30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Insight text 1"/>
          <p:cNvSpPr/>
          <p:nvPr/>
        </p:nvSpPr>
        <p:spPr>
          <a:xfrm>
            <a:off x="9230000" y="39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Accuracy, value, and cleanliness drive rating.</a:t>
            </a:r>
          </a:p>
        </p:txBody>
      </p:sp>
      <p:sp>
        <p:nvSpPr>
          <p:cNvPr id="16" name="Insight row 2"/>
          <p:cNvSpPr/>
          <p:nvPr/>
        </p:nvSpPr>
        <p:spPr>
          <a:xfrm>
            <a:off x="8657000" y="454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Insight number 2"/>
          <p:cNvSpPr/>
          <p:nvPr/>
        </p:nvSpPr>
        <p:spPr>
          <a:xfrm>
            <a:off x="8785000" y="4652000"/>
            <a:ext cx="370000" cy="30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Insight text 2"/>
          <p:cNvSpPr/>
          <p:nvPr/>
        </p:nvSpPr>
        <p:spPr>
          <a:xfrm>
            <a:off x="9230000" y="461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Location matters, but only partly.</a:t>
            </a:r>
          </a:p>
        </p:txBody>
      </p:sp>
      <p:sp>
        <p:nvSpPr>
          <p:cNvPr id="19" name="Insight row 3"/>
          <p:cNvSpPr/>
          <p:nvPr/>
        </p:nvSpPr>
        <p:spPr>
          <a:xfrm>
            <a:off x="8657000" y="5190000"/>
            <a:ext cx="2740000" cy="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Insight number 3"/>
          <p:cNvSpPr/>
          <p:nvPr/>
        </p:nvSpPr>
        <p:spPr>
          <a:xfrm>
            <a:off x="8785000" y="5302000"/>
            <a:ext cx="370000" cy="30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Insight text 3"/>
          <p:cNvSpPr/>
          <p:nvPr/>
        </p:nvSpPr>
        <p:spPr>
          <a:xfrm>
            <a:off x="9230000" y="52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Focus on things hosts can improve, like clean rooms and clear information.</a:t>
            </a:r>
          </a:p>
        </p:txBody>
      </p:sp>
      <p:sp>
        <p:nvSpPr>
          <p:cNvPr id="40" name="Footer"/>
          <p:cNvSpPr/>
          <p:nvPr/>
        </p:nvSpPr>
        <p:spPr>
          <a:xfrm>
            <a:off x="502920" y="6373368"/>
            <a:ext cx="1106424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Metric: correlation with overall rating.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256032"/>
            <a:ext cx="9299448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r>
              <a:rPr lang="en-GB" sz="2800" b="1" dirty="0"/>
              <a:t>Where Guests Review More vs Rate Higher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🏠</a:t>
            </a:r>
            <a:br>
              <a:rPr lang="en-GB" sz="4800" dirty="0"/>
            </a:br>
            <a:endParaRPr lang="en-US" sz="4800" b="1" dirty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" name="Ch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42415"/>
            <a:ext cx="7726679" cy="5074920"/>
          </a:xfrm>
          <a:prstGeom prst="rect">
            <a:avLst/>
          </a:prstGeom>
        </p:spPr>
      </p:pic>
      <p:sp>
        <p:nvSpPr>
          <p:cNvPr id="5" name="Right insight panel"/>
          <p:cNvSpPr/>
          <p:nvPr/>
        </p:nvSpPr>
        <p:spPr>
          <a:xfrm>
            <a:off x="8500532" y="987551"/>
            <a:ext cx="3048339" cy="530035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2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Question pill"/>
          <p:cNvSpPr/>
          <p:nvPr/>
        </p:nvSpPr>
        <p:spPr>
          <a:xfrm>
            <a:off x="8728000" y="1225000"/>
            <a:ext cx="1210000" cy="330000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CEE6DB"/>
            </a:solidFill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Question"/>
          <p:cNvSpPr/>
          <p:nvPr/>
        </p:nvSpPr>
        <p:spPr>
          <a:xfrm>
            <a:off x="8728000" y="1600000"/>
            <a:ext cx="2550000" cy="8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5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Does the priciest neighborhood always win on feedback?</a:t>
            </a:r>
          </a:p>
        </p:txBody>
      </p:sp>
      <p:sp>
        <p:nvSpPr>
          <p:cNvPr id="8" name="Answer"/>
          <p:cNvSpPr/>
          <p:nvPr/>
        </p:nvSpPr>
        <p:spPr>
          <a:xfrm>
            <a:off x="8728000" y="2460000"/>
            <a:ext cx="2550000" cy="6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3000" b="1" dirty="0">
                <a:solidFill>
                  <a:srgbClr val="2E7D5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9" name="Divider"/>
          <p:cNvSpPr/>
          <p:nvPr/>
        </p:nvSpPr>
        <p:spPr>
          <a:xfrm>
            <a:off x="8728000" y="3225000"/>
            <a:ext cx="2550000" cy="2200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ead"/>
          <p:cNvSpPr/>
          <p:nvPr/>
        </p:nvSpPr>
        <p:spPr>
          <a:xfrm>
            <a:off x="8728000" y="3335000"/>
            <a:ext cx="2550000" cy="47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Price, activity, and rating point to different neighborhood stories.</a:t>
            </a:r>
          </a:p>
        </p:txBody>
      </p:sp>
      <p:sp>
        <p:nvSpPr>
          <p:cNvPr id="13" name="Insight row 1"/>
          <p:cNvSpPr/>
          <p:nvPr/>
        </p:nvSpPr>
        <p:spPr>
          <a:xfrm>
            <a:off x="8657000" y="389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Insight number 1"/>
          <p:cNvSpPr/>
          <p:nvPr/>
        </p:nvSpPr>
        <p:spPr>
          <a:xfrm>
            <a:off x="8785000" y="4002000"/>
            <a:ext cx="370000" cy="30000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Insight text 1"/>
          <p:cNvSpPr/>
          <p:nvPr/>
        </p:nvSpPr>
        <p:spPr>
          <a:xfrm>
            <a:off x="9230000" y="39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Inner City leads on review activity.</a:t>
            </a:r>
          </a:p>
        </p:txBody>
      </p:sp>
      <p:sp>
        <p:nvSpPr>
          <p:cNvPr id="16" name="Insight row 2"/>
          <p:cNvSpPr/>
          <p:nvPr/>
        </p:nvSpPr>
        <p:spPr>
          <a:xfrm>
            <a:off x="8657000" y="454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Insight number 2"/>
          <p:cNvSpPr/>
          <p:nvPr/>
        </p:nvSpPr>
        <p:spPr>
          <a:xfrm>
            <a:off x="8785000" y="4652000"/>
            <a:ext cx="370000" cy="30000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Insight text 2"/>
          <p:cNvSpPr/>
          <p:nvPr/>
        </p:nvSpPr>
        <p:spPr>
          <a:xfrm>
            <a:off x="9230000" y="461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Several areas still rate strongly.</a:t>
            </a:r>
          </a:p>
        </p:txBody>
      </p:sp>
      <p:sp>
        <p:nvSpPr>
          <p:cNvPr id="19" name="Insight row 3"/>
          <p:cNvSpPr/>
          <p:nvPr/>
        </p:nvSpPr>
        <p:spPr>
          <a:xfrm>
            <a:off x="8657000" y="5190000"/>
            <a:ext cx="2740000" cy="852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Insight number 3"/>
          <p:cNvSpPr/>
          <p:nvPr/>
        </p:nvSpPr>
        <p:spPr>
          <a:xfrm>
            <a:off x="8785000" y="5302000"/>
            <a:ext cx="370000" cy="30000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Insight text 3"/>
          <p:cNvSpPr/>
          <p:nvPr/>
        </p:nvSpPr>
        <p:spPr>
          <a:xfrm>
            <a:off x="9230000" y="52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Look at price, reviews, and ratings together before judging an area.</a:t>
            </a:r>
          </a:p>
        </p:txBody>
      </p:sp>
      <p:sp>
        <p:nvSpPr>
          <p:cNvPr id="40" name="Footer"/>
          <p:cNvSpPr/>
          <p:nvPr/>
        </p:nvSpPr>
        <p:spPr>
          <a:xfrm>
            <a:off x="502920" y="6373368"/>
            <a:ext cx="1106424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Axes: monthly reviews/listing vs median nightly price (DKK). Source: listings.csv.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256032"/>
            <a:ext cx="9299448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Price alone is not the full feedback story</a:t>
            </a:r>
            <a:r>
              <a:rPr lang="zh-CN" altLang="en-US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💰</a:t>
            </a:r>
            <a:endParaRPr lang="en-US" sz="2800" b="1" dirty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" name="Ch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42415"/>
            <a:ext cx="7726679" cy="5074920"/>
          </a:xfrm>
          <a:prstGeom prst="rect">
            <a:avLst/>
          </a:prstGeom>
        </p:spPr>
      </p:pic>
      <p:sp>
        <p:nvSpPr>
          <p:cNvPr id="5" name="Right insight panel"/>
          <p:cNvSpPr/>
          <p:nvPr/>
        </p:nvSpPr>
        <p:spPr>
          <a:xfrm>
            <a:off x="8485632" y="987552"/>
            <a:ext cx="3063240" cy="52578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2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Question pill"/>
          <p:cNvSpPr/>
          <p:nvPr/>
        </p:nvSpPr>
        <p:spPr>
          <a:xfrm>
            <a:off x="8728000" y="1225000"/>
            <a:ext cx="1210000" cy="330000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CEE6DB"/>
            </a:solidFill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Question"/>
          <p:cNvSpPr/>
          <p:nvPr/>
        </p:nvSpPr>
        <p:spPr>
          <a:xfrm>
            <a:off x="8728000" y="1600000"/>
            <a:ext cx="2550000" cy="8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5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Does a higher nightly price automatically bring better feedback?</a:t>
            </a:r>
          </a:p>
        </p:txBody>
      </p:sp>
      <p:sp>
        <p:nvSpPr>
          <p:cNvPr id="8" name="Answer"/>
          <p:cNvSpPr/>
          <p:nvPr/>
        </p:nvSpPr>
        <p:spPr>
          <a:xfrm>
            <a:off x="8728000" y="2460000"/>
            <a:ext cx="2550000" cy="6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30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9" name="Divider"/>
          <p:cNvSpPr/>
          <p:nvPr/>
        </p:nvSpPr>
        <p:spPr>
          <a:xfrm>
            <a:off x="8728000" y="3225000"/>
            <a:ext cx="2550000" cy="2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ead"/>
          <p:cNvSpPr/>
          <p:nvPr/>
        </p:nvSpPr>
        <p:spPr>
          <a:xfrm>
            <a:off x="8728000" y="3335000"/>
            <a:ext cx="2550000" cy="47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Price helps segment demand, but it does not explain feedback alone.</a:t>
            </a:r>
          </a:p>
        </p:txBody>
      </p:sp>
      <p:sp>
        <p:nvSpPr>
          <p:cNvPr id="13" name="Insight row 1"/>
          <p:cNvSpPr/>
          <p:nvPr/>
        </p:nvSpPr>
        <p:spPr>
          <a:xfrm>
            <a:off x="8657000" y="389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Insight number 1"/>
          <p:cNvSpPr/>
          <p:nvPr/>
        </p:nvSpPr>
        <p:spPr>
          <a:xfrm>
            <a:off x="8785000" y="4002000"/>
            <a:ext cx="370000" cy="30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Insight text 1"/>
          <p:cNvSpPr/>
          <p:nvPr/>
        </p:nvSpPr>
        <p:spPr>
          <a:xfrm>
            <a:off x="9230000" y="39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Budget bands get more reviews.</a:t>
            </a:r>
          </a:p>
        </p:txBody>
      </p:sp>
      <p:sp>
        <p:nvSpPr>
          <p:cNvPr id="16" name="Insight row 2"/>
          <p:cNvSpPr/>
          <p:nvPr/>
        </p:nvSpPr>
        <p:spPr>
          <a:xfrm>
            <a:off x="8657000" y="454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Insight number 2"/>
          <p:cNvSpPr/>
          <p:nvPr/>
        </p:nvSpPr>
        <p:spPr>
          <a:xfrm>
            <a:off x="8785000" y="4652000"/>
            <a:ext cx="370000" cy="30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Insight text 2"/>
          <p:cNvSpPr/>
          <p:nvPr/>
        </p:nvSpPr>
        <p:spPr>
          <a:xfrm>
            <a:off x="9230000" y="461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Premium bands lift ratings only slightly.</a:t>
            </a:r>
          </a:p>
        </p:txBody>
      </p:sp>
      <p:sp>
        <p:nvSpPr>
          <p:cNvPr id="19" name="Insight row 3"/>
          <p:cNvSpPr/>
          <p:nvPr/>
        </p:nvSpPr>
        <p:spPr>
          <a:xfrm>
            <a:off x="8657000" y="5190000"/>
            <a:ext cx="2740000" cy="7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Insight number 3"/>
          <p:cNvSpPr/>
          <p:nvPr/>
        </p:nvSpPr>
        <p:spPr>
          <a:xfrm>
            <a:off x="8785000" y="5302000"/>
            <a:ext cx="370000" cy="30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Insight text 3"/>
          <p:cNvSpPr/>
          <p:nvPr/>
        </p:nvSpPr>
        <p:spPr>
          <a:xfrm>
            <a:off x="9230000" y="52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Use price groups, but do not assume expensive homes get better reviews.</a:t>
            </a:r>
          </a:p>
        </p:txBody>
      </p:sp>
      <p:sp>
        <p:nvSpPr>
          <p:cNvPr id="40" name="Footer"/>
          <p:cNvSpPr/>
          <p:nvPr/>
        </p:nvSpPr>
        <p:spPr>
          <a:xfrm>
            <a:off x="502920" y="6373368"/>
            <a:ext cx="1106424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Bars = listings; solid line = rating; dashed line = review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19" y="256032"/>
            <a:ext cx="9775817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Host quality improves both ratings and review activity</a:t>
            </a:r>
            <a:r>
              <a:rPr lang="zh-CN" altLang="en-US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😊</a:t>
            </a:r>
            <a:r>
              <a:rPr lang="zh-CN" altLang="en-US" sz="28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 </a:t>
            </a:r>
            <a:endParaRPr lang="en-US" sz="2800" b="1" dirty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" name="Ch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0000"/>
            <a:ext cx="7726679" cy="3439000"/>
          </a:xfrm>
          <a:prstGeom prst="rect">
            <a:avLst/>
          </a:prstGeom>
        </p:spPr>
      </p:pic>
      <p:sp>
        <p:nvSpPr>
          <p:cNvPr id="33" name="Metric card one"/>
          <p:cNvSpPr/>
          <p:nvPr/>
        </p:nvSpPr>
        <p:spPr>
          <a:xfrm>
            <a:off x="502920" y="5020000"/>
            <a:ext cx="3650000" cy="80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FEBDD"/>
            </a:solidFill>
          </a:ln>
        </p:spPr>
        <p:txBody>
          <a:bodyPr wrap="square" lIns="91440" tIns="60960" rIns="91440" bIns="60960"/>
          <a:lstStyle/>
          <a:p>
            <a:pPr algn="l"/>
            <a:r>
              <a:rPr lang="en-US" sz="1200" b="1" dirty="0">
                <a:solidFill>
                  <a:srgbClr val="2E7D57"/>
                </a:solidFill>
                <a:latin typeface="Aptos"/>
                <a:ea typeface="Aptos"/>
                <a:cs typeface="Aptos"/>
              </a:rPr>
              <a:t>SUPERHOST SIGNAL</a:t>
            </a:r>
          </a:p>
          <a:p>
            <a:pPr algn="l"/>
            <a:endParaRPr lang="en-US" sz="1200" b="1" dirty="0">
              <a:solidFill>
                <a:srgbClr val="2E7D57"/>
              </a:solidFill>
              <a:latin typeface="Aptos"/>
              <a:ea typeface="Aptos"/>
              <a:cs typeface="Aptos"/>
            </a:endParaRPr>
          </a:p>
          <a:p>
            <a:pPr algn="l"/>
            <a:r>
              <a:rPr lang="en-US" sz="135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Higher rating + more reviews</a:t>
            </a:r>
          </a:p>
        </p:txBody>
      </p:sp>
      <p:sp>
        <p:nvSpPr>
          <p:cNvPr id="34" name="Metric card two"/>
          <p:cNvSpPr/>
          <p:nvPr/>
        </p:nvSpPr>
        <p:spPr>
          <a:xfrm>
            <a:off x="4300000" y="5020000"/>
            <a:ext cx="3740000" cy="8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DE1FF"/>
            </a:solidFill>
          </a:ln>
        </p:spPr>
        <p:txBody>
          <a:bodyPr wrap="square" lIns="91440" tIns="60960" rIns="91440" bIns="60960"/>
          <a:lstStyle/>
          <a:p>
            <a:pPr algn="l"/>
            <a:r>
              <a:rPr lang="en-US" sz="12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RESPONSE SIGNAL</a:t>
            </a:r>
          </a:p>
          <a:p>
            <a:pPr algn="l"/>
            <a:endParaRPr lang="en-US" sz="1200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  <a:p>
            <a:pPr algn="l"/>
            <a:r>
              <a:rPr lang="en-US" sz="1300" b="1" dirty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Slow replies weaken satisfaction</a:t>
            </a:r>
          </a:p>
        </p:txBody>
      </p:sp>
      <p:sp>
        <p:nvSpPr>
          <p:cNvPr id="5" name="Right insight panel"/>
          <p:cNvSpPr/>
          <p:nvPr/>
        </p:nvSpPr>
        <p:spPr>
          <a:xfrm>
            <a:off x="8485632" y="987552"/>
            <a:ext cx="3063240" cy="52578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2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Question pill"/>
          <p:cNvSpPr/>
          <p:nvPr/>
        </p:nvSpPr>
        <p:spPr>
          <a:xfrm>
            <a:off x="8728000" y="1225000"/>
            <a:ext cx="1210000" cy="330000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CEE6DB"/>
            </a:solidFill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Question"/>
          <p:cNvSpPr/>
          <p:nvPr/>
        </p:nvSpPr>
        <p:spPr>
          <a:xfrm>
            <a:off x="8728000" y="1600000"/>
            <a:ext cx="2550000" cy="8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5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Is feedback only about the apartment itself?</a:t>
            </a:r>
          </a:p>
        </p:txBody>
      </p:sp>
      <p:sp>
        <p:nvSpPr>
          <p:cNvPr id="8" name="Answer"/>
          <p:cNvSpPr/>
          <p:nvPr/>
        </p:nvSpPr>
        <p:spPr>
          <a:xfrm>
            <a:off x="8728000" y="2460000"/>
            <a:ext cx="2550000" cy="6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3000" b="1" dirty="0">
                <a:solidFill>
                  <a:srgbClr val="2E7D5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9" name="Divider"/>
          <p:cNvSpPr/>
          <p:nvPr/>
        </p:nvSpPr>
        <p:spPr>
          <a:xfrm>
            <a:off x="8728000" y="3225000"/>
            <a:ext cx="2550000" cy="2200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ead"/>
          <p:cNvSpPr/>
          <p:nvPr/>
        </p:nvSpPr>
        <p:spPr>
          <a:xfrm>
            <a:off x="8728000" y="3335000"/>
            <a:ext cx="2820872" cy="47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Host operations turn service quality into visible feedback signals.</a:t>
            </a:r>
          </a:p>
        </p:txBody>
      </p:sp>
      <p:sp>
        <p:nvSpPr>
          <p:cNvPr id="13" name="Insight row 1"/>
          <p:cNvSpPr/>
          <p:nvPr/>
        </p:nvSpPr>
        <p:spPr>
          <a:xfrm>
            <a:off x="8657000" y="389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Insight number 1"/>
          <p:cNvSpPr/>
          <p:nvPr/>
        </p:nvSpPr>
        <p:spPr>
          <a:xfrm>
            <a:off x="8785000" y="4002000"/>
            <a:ext cx="370000" cy="30000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Insight text 1"/>
          <p:cNvSpPr/>
          <p:nvPr/>
        </p:nvSpPr>
        <p:spPr>
          <a:xfrm>
            <a:off x="9230000" y="39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Superhosts rate higher and get more reviews.</a:t>
            </a:r>
          </a:p>
        </p:txBody>
      </p:sp>
      <p:sp>
        <p:nvSpPr>
          <p:cNvPr id="16" name="Insight row 2"/>
          <p:cNvSpPr/>
          <p:nvPr/>
        </p:nvSpPr>
        <p:spPr>
          <a:xfrm>
            <a:off x="8657000" y="4540000"/>
            <a:ext cx="2740000" cy="55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Insight number 2"/>
          <p:cNvSpPr/>
          <p:nvPr/>
        </p:nvSpPr>
        <p:spPr>
          <a:xfrm>
            <a:off x="8785000" y="4652000"/>
            <a:ext cx="370000" cy="30000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Insight text 2"/>
          <p:cNvSpPr/>
          <p:nvPr/>
        </p:nvSpPr>
        <p:spPr>
          <a:xfrm>
            <a:off x="9230000" y="461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172B4D"/>
                </a:solidFill>
                <a:latin typeface="Aptos"/>
                <a:ea typeface="Aptos"/>
                <a:cs typeface="Aptos"/>
              </a:rPr>
              <a:t>Slow replies weaken satisfaction.</a:t>
            </a:r>
          </a:p>
        </p:txBody>
      </p:sp>
      <p:sp>
        <p:nvSpPr>
          <p:cNvPr id="19" name="Insight row 3"/>
          <p:cNvSpPr/>
          <p:nvPr/>
        </p:nvSpPr>
        <p:spPr>
          <a:xfrm>
            <a:off x="8657000" y="5190000"/>
            <a:ext cx="2740000" cy="7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Insight number 3"/>
          <p:cNvSpPr/>
          <p:nvPr/>
        </p:nvSpPr>
        <p:spPr>
          <a:xfrm>
            <a:off x="8785000" y="5302000"/>
            <a:ext cx="370000" cy="30000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txBody>
          <a:bodyPr wrap="square" lIns="91440" tIns="60960" rIns="91440" bIns="6096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Insight text 3"/>
          <p:cNvSpPr/>
          <p:nvPr/>
        </p:nvSpPr>
        <p:spPr>
          <a:xfrm>
            <a:off x="9230000" y="5260000"/>
            <a:ext cx="2020000" cy="43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Good host service, like fast replies, can improve guest feedback.</a:t>
            </a:r>
          </a:p>
        </p:txBody>
      </p:sp>
      <p:sp>
        <p:nvSpPr>
          <p:cNvPr id="40" name="Footer"/>
          <p:cNvSpPr/>
          <p:nvPr/>
        </p:nvSpPr>
        <p:spPr>
          <a:xfrm>
            <a:off x="502920" y="6373368"/>
            <a:ext cx="1106424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/>
          <a:lstStyle/>
          <a:p>
            <a:pPr algn="l"/>
            <a:r>
              <a:rPr lang="en-US"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Comparison: Superhost status and host_response_time.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436</Words>
  <Application>Microsoft Macintosh PowerPoint</Application>
  <PresentationFormat>Widescreen</PresentationFormat>
  <Paragraphs>67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Poppins</vt:lpstr>
      <vt:lpstr>Arial</vt:lpstr>
      <vt:lpstr>Aptos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Harrison Bo Hua Zhu</cp:lastModifiedBy>
  <cp:revision>9</cp:revision>
  <dcterms:modified xsi:type="dcterms:W3CDTF">2026-06-05T13:36:57Z</dcterms:modified>
</cp:coreProperties>
</file>